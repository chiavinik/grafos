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IA e Data Centers: O Preço Energético da Inteligência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Onde os bits encontram os watts</a:t>
            </a:r>
          </a:p>
          <a:p>
            <a:r>
              <a:t>Luiz Chiavini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Explosão da Demanda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salto energético da IA Generativa</a:t>
            </a:r>
          </a:p>
          <a:p>
            <a:pPr lvl="1"/>
            <a:r>
              <a:t>Busca Google: 0.3 Wh</a:t>
            </a:r>
          </a:p>
          <a:p>
            <a:pPr lvl="1"/>
            <a:r>
              <a:t>Prompt ChatGPT: 2.9 Wh</a:t>
            </a:r>
          </a:p>
          <a:p>
            <a:pPr lvl="1"/>
            <a:r>
              <a:t>A IA consome 10x mais energia por interação.</a:t>
            </a:r>
          </a:p>
        </p:txBody>
      </p:sp>
      <p:pic>
        <p:nvPicPr>
          <p:cNvPr id="4" name="Picture 3" descr="gpu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a IA 'bebe' tanta energia?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 e Ciclos de Treinamento</a:t>
            </a:r>
          </a:p>
          <a:p>
            <a:pPr lvl="1"/>
            <a:r>
              <a:t>NVIDIA H100: Consumo de até 700W (pico).</a:t>
            </a:r>
          </a:p>
          <a:p>
            <a:pPr lvl="1"/>
            <a:r>
              <a:t>Treino de um LLM: Energia de centenas de casas brasileiras/ano.</a:t>
            </a:r>
          </a:p>
          <a:p>
            <a:pPr lvl="1"/>
            <a:r>
              <a:t>Inferência constante por bilhões de usuários.</a:t>
            </a:r>
          </a:p>
        </p:txBody>
      </p:sp>
      <p:pic>
        <p:nvPicPr>
          <p:cNvPr id="4" name="Picture 3" descr="gpu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Anatomia do Gasto Energético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Processamento vs Refrigeração</a:t>
            </a:r>
          </a:p>
          <a:p>
            <a:pPr lvl="1"/>
            <a:r>
              <a:t>Processamento (GPUs): ~60% do gasto.</a:t>
            </a:r>
          </a:p>
          <a:p>
            <a:pPr lvl="1"/>
            <a:r>
              <a:t>Refrigeração (Cooling): ~40% para evitar superaquecimento.</a:t>
            </a:r>
          </a:p>
          <a:p>
            <a:pPr lvl="1"/>
            <a:r>
              <a:t>PUE: Power Usage Effectiveness (razão total/TI).</a:t>
            </a:r>
          </a:p>
        </p:txBody>
      </p:sp>
      <p:pic>
        <p:nvPicPr>
          <p:cNvPr id="4" name="Picture 3" descr="server_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Ambiental e Hídrico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Água e Geopolítica</a:t>
            </a:r>
          </a:p>
          <a:p>
            <a:pPr lvl="1"/>
            <a:r>
              <a:t>Consumo de bilhões de litros de água para resfriamento.</a:t>
            </a:r>
          </a:p>
          <a:p>
            <a:pPr lvl="1"/>
            <a:r>
              <a:t>Migração para regiões frias (Islândia, Nórdicos).</a:t>
            </a:r>
          </a:p>
          <a:p>
            <a:pPr lvl="1"/>
            <a:r>
              <a:t>Pressão sobre grades elétricas nacionais.</a:t>
            </a:r>
          </a:p>
        </p:txBody>
      </p:sp>
      <p:pic>
        <p:nvPicPr>
          <p:cNvPr id="4" name="Picture 3" descr="worl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Soluções: Caminho para Sustentabilidade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Energia Limpa e Inovação</a:t>
            </a:r>
          </a:p>
          <a:p>
            <a:pPr lvl="1"/>
            <a:r>
              <a:t>Energias 24/7: SMRs (Nucleares Modulares) e Geotérmica.</a:t>
            </a:r>
          </a:p>
          <a:p>
            <a:pPr lvl="1"/>
            <a:r>
              <a:t>IA para IA: Algoritmos otimizando o refrigeração (DeepMind).</a:t>
            </a:r>
          </a:p>
          <a:p>
            <a:pPr lvl="1"/>
            <a:r>
              <a:t>Hardware Especializado (LPUs, TPUs, Edge Computing).</a:t>
            </a:r>
          </a:p>
        </p:txBody>
      </p:sp>
      <p:pic>
        <p:nvPicPr>
          <p:cNvPr id="4" name="Picture 3" descr="smr_re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Dilema Ético e o Futuro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Paradoxo de Jevons</a:t>
            </a:r>
          </a:p>
          <a:p>
            <a:pPr lvl="1"/>
            <a:r>
              <a:t>Eficiência gera mais demanda?</a:t>
            </a:r>
          </a:p>
          <a:p>
            <a:pPr lvl="1"/>
            <a:r>
              <a:t>Conflito entre progresso da IA e metas de emissão zero.</a:t>
            </a:r>
          </a:p>
          <a:p>
            <a:pPr lvl="1"/>
            <a:r>
              <a:t>Inovação responsável.</a:t>
            </a:r>
          </a:p>
        </p:txBody>
      </p:sp>
      <p:pic>
        <p:nvPicPr>
          <p:cNvPr id="4" name="Picture 3" descr="brain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Obrigado!</a:t>
            </a:r>
          </a:p>
          <a:p>
            <a:pPr lvl="1"/>
            <a:r>
              <a:t>'A inteligência do futuro depende da sustentabilidade do presente.'</a:t>
            </a:r>
          </a:p>
          <a:p>
            <a:pPr lvl="1"/>
            <a:r>
              <a:t>Perguntas?</a:t>
            </a:r>
          </a:p>
        </p:txBody>
      </p:sp>
      <p:pic>
        <p:nvPicPr>
          <p:cNvPr id="4" name="Picture 3" descr="server_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